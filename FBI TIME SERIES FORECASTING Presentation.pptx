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7" autoAdjust="0"/>
    <p:restoredTop sz="94660"/>
  </p:normalViewPr>
  <p:slideViewPr>
    <p:cSldViewPr snapToGrid="0">
      <p:cViewPr varScale="1">
        <p:scale>
          <a:sx n="79" d="100"/>
          <a:sy n="79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53EB-9DFE-41D4-46D2-269CB6A67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F0918-A8B0-3B6E-3ED8-380AD9738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5ED30-DC99-2BCC-2BF3-42CD7D2F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A0F7-86A0-ECB3-7849-3993BD950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28EF1-A511-F202-3300-0424AAB0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42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7068-B0E0-9D93-1647-3BE58B46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3D3D-7493-307E-9BCA-1B5660832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D5C59-03C3-2F7B-E527-1C7AAC7B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93521-4617-624E-DAEA-37345E27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FD6F-A369-85AC-D293-B41CE5D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73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AAD6-A6E2-39CA-4223-3CDBB27B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364A3-1E2A-4140-1A77-6C872C593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91466-6FDB-9085-807F-F852067C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7C450-9FC8-FD5B-C80F-D88D5939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F784-B237-B31A-1710-8E7A7F31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3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BA17-403F-ED19-BB4F-57A42B70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05E10-A364-FF79-668E-0E5D3B2E6C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BE49E-F459-115B-23DA-738243A7E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C6513-2842-A40E-113C-D1B627A40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807F5-0FD8-398C-96FF-AF92FA36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BD32-319F-30B4-32A0-74E9798A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39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1241-74C3-5C57-34C5-1F37B0EE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594D0-7A7E-202E-2E7F-AC1AA93E0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9DE0F-8DE1-D068-4ED9-61EACBC6D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50C59-E736-1EDC-89E1-81E0859C4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7097D-C966-BA3D-6BA6-87356DD37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AD1D7-C962-0846-928A-7401CBBA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A6D47-512B-2051-1720-0C6BDE549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1AABE-5628-479C-EFDC-159BCE46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90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BF11-3E86-87E6-54DF-83996F10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37EBE2-7663-B121-5C27-F2423B108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493E6-0D65-0ACF-84C6-C6108792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F20A6-1542-65DA-0DEF-8D244CD0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61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348986-864E-0327-8DEE-493A21C1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5C4B7-D6F3-69D9-038E-9E6E32471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A6E41-71D3-8C0A-3D95-22E2750D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33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29F8-5C0D-6FBC-9C04-4764DD8C4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2B4A-1A35-641A-7B6F-E7AE9C34D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317B0-52CA-AB22-91C8-F09CC9D76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872D4-F2AC-30D5-E550-417C5BA4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03CAA-A835-C1EE-CF8B-B1900647B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025CF-C5C2-E0E2-E0FC-E3DB6F88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13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24484-AD18-B007-08DC-7171AF76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68829-F42F-5DA5-0870-2E2125601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22C03-7728-2D57-5E3D-7F2A0716A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F5A7E-EB40-1D1B-3EE9-BE81330F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215C-4C85-50A7-2B32-6FD3EE11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02E6B-F916-435E-9F03-5DB84437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061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4EEF-CE3B-AD95-C71E-833106A9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8DA10A-842F-33B5-E59C-A0C24D416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B17C7-D7E6-8FA1-6CBC-DD825DCD3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76D77-5811-ABD6-6302-8017E2EE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35DC8-807E-6EAB-2119-DDE567B7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6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CE570-2F31-61C0-D163-E1C3C08C5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8FBC6-F7CD-5BE8-2DEB-03144E696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814A-20C7-4161-80DA-25664091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DDD95-5739-F9A0-3DFE-ACA5B503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39939-0876-1EB9-6F2B-805F2822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499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8A982-4A48-ECC7-1213-64ABACF1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0853B-7526-2367-F69F-C2A302296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CBFC7-36EA-C038-05D8-88DB4050A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05A86-6602-4E86-91D0-E695F9FB3007}" type="datetimeFigureOut">
              <a:rPr lang="en-IN" smtClean="0"/>
              <a:t>26-03-2025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58733-DBE8-55F5-6954-839849D46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7F7DF-8FE5-8B54-AD05-2233115A3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40C69-5E36-42B0-9D68-3746269996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11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DDD2-B04A-D71F-CBC7-3A3813203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9248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accent5">
                    <a:lumMod val="75000"/>
                  </a:schemeClr>
                </a:solidFill>
              </a:rPr>
              <a:t>FBI Crime Investigation Power BI Dashboard Insights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</a:rPr>
            </a:b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52A907-38A0-38ED-C294-347C9BEF1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1"/>
            <a:ext cx="9144000" cy="230663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Title:</a:t>
            </a:r>
            <a:r>
              <a:rPr lang="en-IN" dirty="0">
                <a:solidFill>
                  <a:srgbClr val="002060"/>
                </a:solidFill>
              </a:rPr>
              <a:t> FBI Crime Investigation - Data-Driven Insights &amp; Forecasting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Subtitle:</a:t>
            </a:r>
            <a:r>
              <a:rPr lang="en-IN" dirty="0">
                <a:solidFill>
                  <a:srgbClr val="002060"/>
                </a:solidFill>
              </a:rPr>
              <a:t> Using Predictive Analytics for Crime Prevention</a:t>
            </a:r>
          </a:p>
          <a:p>
            <a:br>
              <a:rPr lang="en-IN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Presented by:</a:t>
            </a:r>
            <a:r>
              <a:rPr lang="en-IN" dirty="0">
                <a:solidFill>
                  <a:srgbClr val="002060"/>
                </a:solidFill>
              </a:rPr>
              <a:t> RESHMA SURYAWANSHI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309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CDD176-B347-74A1-2C23-3F9228792595}"/>
              </a:ext>
            </a:extLst>
          </p:cNvPr>
          <p:cNvSpPr txBox="1"/>
          <p:nvPr/>
        </p:nvSpPr>
        <p:spPr>
          <a:xfrm>
            <a:off x="1147864" y="544750"/>
            <a:ext cx="1015567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Project Overview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The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FBI Crime Investigation Project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utilizes data analytics to predict crime trends and enhance public safety.</a:t>
            </a: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Focuses on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crime types, locations, and time patterns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to optimize law enforcement responses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Aims to improve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resource allocation, crime prevention strategies, and urban safety planning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374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79F3A3-F6D8-9CDC-EA46-E3D234E5D221}"/>
              </a:ext>
            </a:extLst>
          </p:cNvPr>
          <p:cNvSpPr txBox="1"/>
          <p:nvPr/>
        </p:nvSpPr>
        <p:spPr>
          <a:xfrm>
            <a:off x="1368357" y="905232"/>
            <a:ext cx="9455285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Crime Trends Over Time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Visualization: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Line Chart (Crime incidents per month)</a:t>
            </a:r>
          </a:p>
          <a:p>
            <a:pPr>
              <a:buNone/>
            </a:pPr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Key Insights:</a:t>
            </a: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Crime rates fluctuate throughout the year, with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notable seasonal peaks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  <a:p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A pattern of increased incidents is observed during specific months, indicating potential risk periods.</a:t>
            </a:r>
          </a:p>
          <a:p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Actionable Strategy:</a:t>
            </a:r>
          </a:p>
          <a:p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Increase patrols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and law enforcement presence during high-crime months.</a:t>
            </a:r>
          </a:p>
          <a:p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Implement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community awareness programs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before peak crime periods.</a:t>
            </a:r>
          </a:p>
        </p:txBody>
      </p:sp>
    </p:spTree>
    <p:extLst>
      <p:ext uri="{BB962C8B-B14F-4D97-AF65-F5344CB8AC3E}">
        <p14:creationId xmlns:p14="http://schemas.microsoft.com/office/powerpoint/2010/main" val="111368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38C37-1B3C-14D7-2864-12327FB54E58}"/>
              </a:ext>
            </a:extLst>
          </p:cNvPr>
          <p:cNvSpPr txBox="1"/>
          <p:nvPr/>
        </p:nvSpPr>
        <p:spPr>
          <a:xfrm>
            <a:off x="992222" y="622570"/>
            <a:ext cx="976657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Crime Distribution by Neighborhood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Visualization: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Bar Chart (Crime count per neighborhood)</a:t>
            </a:r>
          </a:p>
          <a:p>
            <a:pPr>
              <a:buNone/>
            </a:pPr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Key Insights: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Certain </a:t>
            </a:r>
            <a:r>
              <a:rPr lang="en-IN" sz="2000" dirty="0" err="1">
                <a:solidFill>
                  <a:schemeClr val="accent4">
                    <a:lumMod val="50000"/>
                  </a:schemeClr>
                </a:solidFill>
              </a:rPr>
              <a:t>neighborhoods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consistently experience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higher crime rates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Data highlights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crime-prone areas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requiring targeted interventions.</a:t>
            </a:r>
          </a:p>
          <a:p>
            <a:br>
              <a:rPr lang="en-IN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Actionable Strategy:</a:t>
            </a: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Deploy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enhanced law enforcement measures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in high-crime zones.</a:t>
            </a: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Install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CCTV surveillance &amp; better street lighting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in vulnerable areas.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8950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93E03-8BA4-B61A-2045-4D3A2F0D3E08}"/>
              </a:ext>
            </a:extLst>
          </p:cNvPr>
          <p:cNvSpPr txBox="1"/>
          <p:nvPr/>
        </p:nvSpPr>
        <p:spPr>
          <a:xfrm>
            <a:off x="1293779" y="603115"/>
            <a:ext cx="9941668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Crime Hotspots (Geographical Analysis)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Visualization: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Map Chart (Crime locations based on latitude &amp; longitude)</a:t>
            </a:r>
          </a:p>
          <a:p>
            <a:pPr>
              <a:buNone/>
            </a:pPr>
            <a:br>
              <a:rPr lang="en-IN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Key Insights:</a:t>
            </a:r>
          </a:p>
          <a:p>
            <a:pPr>
              <a:buNone/>
            </a:pP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Crime incidents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cluster in specific locations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Some areas show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recurring criminal activities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over time.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br>
              <a:rPr lang="en-IN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Actionable Strategy:</a:t>
            </a: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Optimize </a:t>
            </a: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patrol schedules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to focus on high-risk areas.</a:t>
            </a: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4">
                    <a:lumMod val="50000"/>
                  </a:schemeClr>
                </a:solidFill>
              </a:rPr>
              <a:t>Urban planning improvements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</a:rPr>
              <a:t> (better lighting, community policing) in crime-heavy zones.</a:t>
            </a:r>
          </a:p>
        </p:txBody>
      </p:sp>
    </p:spTree>
    <p:extLst>
      <p:ext uri="{BB962C8B-B14F-4D97-AF65-F5344CB8AC3E}">
        <p14:creationId xmlns:p14="http://schemas.microsoft.com/office/powerpoint/2010/main" val="405545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16452C-5662-C316-10B5-86E251B78820}"/>
              </a:ext>
            </a:extLst>
          </p:cNvPr>
          <p:cNvSpPr txBox="1"/>
          <p:nvPr/>
        </p:nvSpPr>
        <p:spPr>
          <a:xfrm>
            <a:off x="1556426" y="632298"/>
            <a:ext cx="8346331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Crime Trends by Time of Day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Visualization: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Column Chart (Crime count by hour)</a:t>
            </a:r>
          </a:p>
          <a:p>
            <a:pPr>
              <a:buNone/>
            </a:pPr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Key Insights: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Crimes occur more frequently at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specific hours of the day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, indicating time-based crime trends.</a:t>
            </a:r>
          </a:p>
          <a:p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High-risk times vary depending on crime type (e.g., late-night burglaries, evening assaults).</a:t>
            </a:r>
          </a:p>
          <a:p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Actionable Strategy: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Increase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law enforcement presence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during peak crime hours.</a:t>
            </a:r>
          </a:p>
          <a:p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Encourage businesses and communities to adopt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enhanced security measures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during high-risk times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645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5AE123-65E4-B739-5477-A22F3F8FDB02}"/>
              </a:ext>
            </a:extLst>
          </p:cNvPr>
          <p:cNvSpPr txBox="1"/>
          <p:nvPr/>
        </p:nvSpPr>
        <p:spPr>
          <a:xfrm>
            <a:off x="1001949" y="522216"/>
            <a:ext cx="102237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None/>
            </a:pP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03B451C-39F1-2A26-6804-DA63FED77B5B}"/>
              </a:ext>
            </a:extLst>
          </p:cNvPr>
          <p:cNvSpPr>
            <a:spLocks noChangeArrowheads="1"/>
          </p:cNvSpPr>
          <p:nvPr/>
        </p:nvSpPr>
        <p:spPr bwMode="auto">
          <a:xfrm rot="203837">
            <a:off x="6791575" y="218657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4EA47AB-5089-9B49-A286-6DC1ADD0FA31}"/>
              </a:ext>
            </a:extLst>
          </p:cNvPr>
          <p:cNvSpPr>
            <a:spLocks noChangeArrowheads="1"/>
          </p:cNvSpPr>
          <p:nvPr/>
        </p:nvSpPr>
        <p:spPr bwMode="auto">
          <a:xfrm rot="152907">
            <a:off x="787941" y="25256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A0E499BE-748D-8573-C233-16F4E339E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949" y="504701"/>
            <a:ext cx="9776298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Crime Breakdown by Type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Visualization: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Pie Chart (Crime distribution by category)</a:t>
            </a:r>
          </a:p>
          <a:p>
            <a:pPr>
              <a:buNone/>
            </a:pPr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Key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Some crime types occur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more frequently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than others, requiring focused interventions.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Patterns indicate which crimes require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immediate law enforcement strategies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Actionable Strategy: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Develop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specialized task forces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for high-frequency crimes.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public awareness campaigns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targeting specific crime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965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9C66A-F7FB-94C4-15F5-283A82EA54C6}"/>
              </a:ext>
            </a:extLst>
          </p:cNvPr>
          <p:cNvSpPr txBox="1"/>
          <p:nvPr/>
        </p:nvSpPr>
        <p:spPr>
          <a:xfrm>
            <a:off x="1274322" y="535021"/>
            <a:ext cx="963038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Strategic Takeaways</a:t>
            </a:r>
          </a:p>
          <a:p>
            <a:pPr>
              <a:buNone/>
            </a:pPr>
            <a:endParaRPr lang="en-US" sz="4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dirty="0"/>
              <a:t>✅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Predictive Policing: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Anticipating crime trends to prevent incidents.</a:t>
            </a:r>
          </a:p>
          <a:p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✅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Resource Optimization: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Allocating law enforcement based on data insights.</a:t>
            </a:r>
          </a:p>
          <a:p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✅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Community Safety Measures: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Urban planning improvements based on crime data.</a:t>
            </a:r>
          </a:p>
          <a:p>
            <a:br>
              <a:rPr lang="en-US" sz="2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✅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Data-Driven Policy Making: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 Supporting law enforcement and city officials in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330377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3E7069-C6CF-1AE5-2B1A-2D3E1E3D5B21}"/>
              </a:ext>
            </a:extLst>
          </p:cNvPr>
          <p:cNvSpPr txBox="1"/>
          <p:nvPr/>
        </p:nvSpPr>
        <p:spPr>
          <a:xfrm>
            <a:off x="1770434" y="1011677"/>
            <a:ext cx="9095362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Conclusion &amp; Next Steps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Predictive crime analysis enables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better decision-making for law enforcement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  <a:p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Data-driven interventions can lead to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crime rate reduction &amp; improved public safety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  <a:p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Next Steps: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Implement crime prevention initiatives, continuously monitor trends, and refine predictive models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1536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761C3-0969-FD4A-9178-DBA8AF0A877E}"/>
              </a:ext>
            </a:extLst>
          </p:cNvPr>
          <p:cNvSpPr txBox="1"/>
          <p:nvPr/>
        </p:nvSpPr>
        <p:spPr>
          <a:xfrm>
            <a:off x="1459149" y="2120630"/>
            <a:ext cx="93385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600" b="1" dirty="0">
                <a:solidFill>
                  <a:schemeClr val="accent1">
                    <a:lumMod val="50000"/>
                  </a:schemeClr>
                </a:solidFill>
              </a:rPr>
              <a:t>Thank You!</a:t>
            </a:r>
          </a:p>
          <a:p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976639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520</Words>
  <Application>Microsoft Office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FBI Crime Investigation Power BI Dashboard Insights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13</cp:revision>
  <dcterms:created xsi:type="dcterms:W3CDTF">2025-03-26T10:01:17Z</dcterms:created>
  <dcterms:modified xsi:type="dcterms:W3CDTF">2025-03-26T12:48:41Z</dcterms:modified>
</cp:coreProperties>
</file>